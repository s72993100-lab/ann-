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B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503920" y="0"/>
            <a:ext cx="3687775" cy="6858000"/>
          </a:xfrm>
          <a:prstGeom prst="rect">
            <a:avLst/>
          </a:prstGeom>
          <a:solidFill>
            <a:srgbClr val="2C68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915400" y="1143000"/>
            <a:ext cx="2651760" cy="2651760"/>
          </a:xfrm>
          <a:prstGeom prst="ellipse">
            <a:avLst/>
          </a:prstGeom>
          <a:solidFill>
            <a:srgbClr val="DCE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098280" y="1536192"/>
            <a:ext cx="2286000" cy="1737360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ctr">
              <a:spcAft>
                <a:spcPts val="600"/>
              </a:spcAft>
              <a:defRPr sz="2200" b="1">
                <a:solidFill>
                  <a:srgbClr val="162B4D"/>
                </a:solidFill>
                <a:latin typeface="Aptos"/>
              </a:defRPr>
            </a:pPr>
            <a:r>
              <a:t>ANN</a:t>
            </a:r>
          </a:p>
          <a:p>
            <a:pPr algn="ctr">
              <a:spcAft>
                <a:spcPts val="600"/>
              </a:spcAft>
              <a:defRPr sz="2200" b="0">
                <a:solidFill>
                  <a:srgbClr val="162B4D"/>
                </a:solidFill>
                <a:latin typeface="Aptos"/>
              </a:defRPr>
            </a:pPr>
            <a:r>
              <a:t>NEURAL</a:t>
            </a:r>
          </a:p>
          <a:p>
            <a:pPr algn="ctr">
              <a:spcAft>
                <a:spcPts val="600"/>
              </a:spcAft>
              <a:defRPr sz="2200" b="0">
                <a:solidFill>
                  <a:srgbClr val="162B4D"/>
                </a:solidFill>
                <a:latin typeface="Aptos"/>
              </a:defRPr>
            </a:pPr>
            <a:r>
              <a:t>NETWORK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34440"/>
            <a:ext cx="7223760" cy="45720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600"/>
              </a:spcAft>
              <a:defRPr sz="1400" b="1">
                <a:solidFill>
                  <a:srgbClr val="EBB03E"/>
                </a:solidFill>
                <a:latin typeface="Aptos"/>
              </a:defRPr>
            </a:pPr>
            <a:r>
              <a:t>MACHINE LEARNING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74519"/>
            <a:ext cx="7498079" cy="128016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600"/>
              </a:spcAft>
              <a:defRPr sz="3100" b="1">
                <a:solidFill>
                  <a:srgbClr val="FFFFFF"/>
                </a:solidFill>
                <a:latin typeface="Aptos"/>
              </a:defRPr>
            </a:pPr>
            <a:r>
              <a:t>Iris Dataset</a:t>
            </a:r>
          </a:p>
          <a:p>
            <a:pPr algn="l">
              <a:spcAft>
                <a:spcPts val="600"/>
              </a:spcAft>
              <a:defRPr sz="3100" b="0">
                <a:solidFill>
                  <a:srgbClr val="FFFFFF"/>
                </a:solidFill>
                <a:latin typeface="Aptos"/>
              </a:defRPr>
            </a:pPr>
            <a:r>
              <a:t>&amp; Artificial Neural Network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657600"/>
            <a:ext cx="6858000" cy="64008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600"/>
              </a:spcAft>
              <a:defRPr sz="1800" b="0">
                <a:solidFill>
                  <a:srgbClr val="D7E2EE"/>
                </a:solidFill>
                <a:latin typeface="Aptos"/>
              </a:defRPr>
            </a:pPr>
            <a:r>
              <a:t>A beginner-friendly classification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897880"/>
            <a:ext cx="6858000" cy="36576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D7E2EE"/>
                </a:solidFill>
                <a:latin typeface="Aptos"/>
              </a:defRPr>
            </a:pPr>
            <a:r>
              <a:t>Prepared for Kaggle Notebook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600"/>
              </a:spcAft>
              <a:defRPr sz="2800" b="1">
                <a:solidFill>
                  <a:srgbClr val="162B4D"/>
                </a:solidFill>
                <a:latin typeface="Aptos"/>
              </a:defRPr>
            </a:pPr>
            <a:r>
              <a:t>Project Objective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789920" cy="384048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647382"/>
                </a:solidFill>
                <a:latin typeface="Aptos"/>
              </a:defRPr>
            </a:pPr>
            <a:r>
              <a:t>What this project is designed to explore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353312"/>
            <a:ext cx="1097280" cy="54864"/>
          </a:xfrm>
          <a:prstGeom prst="rect">
            <a:avLst/>
          </a:prstGeom>
          <a:solidFill>
            <a:srgbClr val="1E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r">
              <a:spcAft>
                <a:spcPts val="600"/>
              </a:spcAft>
              <a:defRPr sz="900" b="0">
                <a:solidFill>
                  <a:srgbClr val="647382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3474720" cy="2011680"/>
          </a:xfrm>
          <a:prstGeom prst="roundRect">
            <a:avLst/>
          </a:prstGeom>
          <a:solidFill>
            <a:srgbClr val="EEF5FA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975104"/>
            <a:ext cx="3145536" cy="32004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600"/>
              </a:spcAft>
              <a:defRPr sz="1600" b="1">
                <a:solidFill>
                  <a:srgbClr val="162B4D"/>
                </a:solidFill>
                <a:latin typeface="Aptos"/>
              </a:defRPr>
            </a:pPr>
            <a:r>
              <a:t>01  Understand the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359152"/>
            <a:ext cx="3145536" cy="1389888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2A3441"/>
                </a:solidFill>
                <a:latin typeface="Aptos"/>
              </a:defRPr>
            </a:pPr>
            <a:r>
              <a:t>Explore measurements collected from iris flowers.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828800"/>
            <a:ext cx="3474720" cy="2011680"/>
          </a:xfrm>
          <a:prstGeom prst="roundRect">
            <a:avLst/>
          </a:prstGeom>
          <a:solidFill>
            <a:srgbClr val="EEF5FA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53712" y="1975104"/>
            <a:ext cx="3145536" cy="32004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600"/>
              </a:spcAft>
              <a:defRPr sz="1600" b="1">
                <a:solidFill>
                  <a:srgbClr val="162B4D"/>
                </a:solidFill>
                <a:latin typeface="Aptos"/>
              </a:defRPr>
            </a:pPr>
            <a:r>
              <a:t>02  Prepare the dataset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53712" y="2359152"/>
            <a:ext cx="3145536" cy="1389888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2A3441"/>
                </a:solidFill>
                <a:latin typeface="Aptos"/>
              </a:defRPr>
            </a:pPr>
            <a:r>
              <a:t>Use four numeric features to describe each flower.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828800"/>
            <a:ext cx="3383280" cy="2011680"/>
          </a:xfrm>
          <a:prstGeom prst="roundRect">
            <a:avLst/>
          </a:prstGeom>
          <a:solidFill>
            <a:srgbClr val="EEF5FA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11312" y="1975104"/>
            <a:ext cx="3054096" cy="32004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600"/>
              </a:spcAft>
              <a:defRPr sz="1600" b="1">
                <a:solidFill>
                  <a:srgbClr val="162B4D"/>
                </a:solidFill>
                <a:latin typeface="Aptos"/>
              </a:defRPr>
            </a:pPr>
            <a:r>
              <a:t>03  Predict a class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11312" y="2359152"/>
            <a:ext cx="3054096" cy="1389888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2A3441"/>
                </a:solidFill>
                <a:latin typeface="Aptos"/>
              </a:defRPr>
            </a:pPr>
            <a:r>
              <a:t>The next stage is to train an ANN to classify flower species.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572000"/>
            <a:ext cx="10515600" cy="73152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600"/>
              </a:spcAft>
              <a:defRPr sz="1900" b="1">
                <a:solidFill>
                  <a:srgbClr val="2C68AB"/>
                </a:solidFill>
                <a:latin typeface="Aptos"/>
              </a:defRPr>
            </a:pPr>
            <a:r>
              <a:t>Current notebook status: dataset loading and exploration. ANN training is a planned next step.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600"/>
              </a:spcAft>
              <a:defRPr sz="2800" b="1">
                <a:solidFill>
                  <a:srgbClr val="162B4D"/>
                </a:solidFill>
                <a:latin typeface="Aptos"/>
              </a:defRPr>
            </a:pPr>
            <a:r>
              <a:t>Iris Dataset at a Glance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789920" cy="384048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647382"/>
                </a:solidFill>
                <a:latin typeface="Aptos"/>
              </a:defRPr>
            </a:pPr>
            <a:r>
              <a:t>A compact dataset for learning classification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353312"/>
            <a:ext cx="1097280" cy="54864"/>
          </a:xfrm>
          <a:prstGeom prst="rect">
            <a:avLst/>
          </a:prstGeom>
          <a:solidFill>
            <a:srgbClr val="1E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r">
              <a:spcAft>
                <a:spcPts val="600"/>
              </a:spcAft>
              <a:defRPr sz="900" b="0">
                <a:solidFill>
                  <a:srgbClr val="647382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2468880" cy="1508760"/>
          </a:xfrm>
          <a:prstGeom prst="roundRect">
            <a:avLst/>
          </a:prstGeom>
          <a:solidFill>
            <a:srgbClr val="EEF5FA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975104"/>
            <a:ext cx="2139696" cy="32004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600"/>
              </a:spcAft>
              <a:defRPr sz="1600" b="1">
                <a:solidFill>
                  <a:srgbClr val="162B4D"/>
                </a:solidFill>
                <a:latin typeface="Aptos"/>
              </a:defRPr>
            </a:pPr>
            <a:r>
              <a:t>150 samples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359152"/>
            <a:ext cx="2139696" cy="886967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2A3441"/>
                </a:solidFill>
                <a:latin typeface="Aptos"/>
              </a:defRPr>
            </a:pPr>
            <a:r>
              <a:t>Rows / flower records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828800"/>
            <a:ext cx="2468880" cy="1508760"/>
          </a:xfrm>
          <a:prstGeom prst="roundRect">
            <a:avLst/>
          </a:prstGeom>
          <a:solidFill>
            <a:srgbClr val="EEF5FA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93592" y="1975104"/>
            <a:ext cx="2139696" cy="32004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600"/>
              </a:spcAft>
              <a:defRPr sz="1600" b="1">
                <a:solidFill>
                  <a:srgbClr val="162B4D"/>
                </a:solidFill>
                <a:latin typeface="Aptos"/>
              </a:defRPr>
            </a:pPr>
            <a:r>
              <a:t>4 features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93592" y="2359152"/>
            <a:ext cx="2139696" cy="886967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2A3441"/>
                </a:solidFill>
                <a:latin typeface="Aptos"/>
              </a:defRPr>
            </a:pPr>
            <a:r>
              <a:t>Numeric measurements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828800"/>
            <a:ext cx="2468880" cy="1508760"/>
          </a:xfrm>
          <a:prstGeom prst="roundRect">
            <a:avLst/>
          </a:prstGeom>
          <a:solidFill>
            <a:srgbClr val="EEF5FA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91072" y="1975104"/>
            <a:ext cx="2139696" cy="32004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600"/>
              </a:spcAft>
              <a:defRPr sz="1600" b="1">
                <a:solidFill>
                  <a:srgbClr val="162B4D"/>
                </a:solidFill>
                <a:latin typeface="Aptos"/>
              </a:defRPr>
            </a:pPr>
            <a:r>
              <a:t>3 classes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91072" y="2359152"/>
            <a:ext cx="2139696" cy="886967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2A3441"/>
                </a:solidFill>
                <a:latin typeface="Aptos"/>
              </a:defRPr>
            </a:pPr>
            <a:r>
              <a:t>Flower species labels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823960" y="1828800"/>
            <a:ext cx="2468880" cy="1508760"/>
          </a:xfrm>
          <a:prstGeom prst="roundRect">
            <a:avLst/>
          </a:prstGeom>
          <a:solidFill>
            <a:srgbClr val="EEF5FA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88552" y="1975104"/>
            <a:ext cx="2139696" cy="32004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600"/>
              </a:spcAft>
              <a:defRPr sz="1600" b="1">
                <a:solidFill>
                  <a:srgbClr val="162B4D"/>
                </a:solidFill>
                <a:latin typeface="Aptos"/>
              </a:defRPr>
            </a:pPr>
            <a:r>
              <a:t>50 per class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88552" y="2359152"/>
            <a:ext cx="2139696" cy="886967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2A3441"/>
                </a:solidFill>
                <a:latin typeface="Aptos"/>
              </a:defRPr>
            </a:pPr>
            <a:r>
              <a:t>Balanced class counts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069080"/>
            <a:ext cx="10698480" cy="91440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ctr">
              <a:spcAft>
                <a:spcPts val="600"/>
              </a:spcAft>
              <a:defRPr sz="2100" b="1">
                <a:solidFill>
                  <a:srgbClr val="162B4D"/>
                </a:solidFill>
                <a:latin typeface="Aptos"/>
              </a:defRPr>
            </a:pPr>
            <a:r>
              <a:t>Species: Iris setosa  •  Iris versicolor  •  Iris virginica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600"/>
              </a:spcAft>
              <a:defRPr sz="2800" b="1">
                <a:solidFill>
                  <a:srgbClr val="162B4D"/>
                </a:solidFill>
                <a:latin typeface="Aptos"/>
              </a:defRPr>
            </a:pPr>
            <a:r>
              <a:t>Understanding the Columns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789920" cy="384048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647382"/>
                </a:solidFill>
                <a:latin typeface="Aptos"/>
              </a:defRPr>
            </a:pPr>
            <a:r>
              <a:t>Measurements are in centimetres (cm)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353312"/>
            <a:ext cx="1097280" cy="54864"/>
          </a:xfrm>
          <a:prstGeom prst="rect">
            <a:avLst/>
          </a:prstGeom>
          <a:solidFill>
            <a:srgbClr val="1E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r">
              <a:spcAft>
                <a:spcPts val="600"/>
              </a:spcAft>
              <a:defRPr sz="900" b="0">
                <a:solidFill>
                  <a:srgbClr val="647382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828800"/>
            <a:ext cx="3246120" cy="1417320"/>
          </a:xfrm>
          <a:prstGeom prst="roundRect">
            <a:avLst/>
          </a:prstGeom>
          <a:solidFill>
            <a:srgbClr val="EEF5FA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" y="1975104"/>
            <a:ext cx="2916936" cy="32004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600"/>
              </a:spcAft>
              <a:defRPr sz="1600" b="1">
                <a:solidFill>
                  <a:srgbClr val="162B4D"/>
                </a:solidFill>
                <a:latin typeface="Aptos"/>
              </a:defRPr>
            </a:pPr>
            <a:r>
              <a:t>Sepal length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2359152"/>
            <a:ext cx="2916936" cy="795528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2A3441"/>
                </a:solidFill>
                <a:latin typeface="Aptos"/>
              </a:defRPr>
            </a:pPr>
            <a:r>
              <a:t>Length of the sepal — the outer flower part.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828800"/>
            <a:ext cx="3246120" cy="1417320"/>
          </a:xfrm>
          <a:prstGeom prst="roundRect">
            <a:avLst/>
          </a:prstGeom>
          <a:solidFill>
            <a:srgbClr val="EEF5FA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99431" y="1975104"/>
            <a:ext cx="2916936" cy="32004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600"/>
              </a:spcAft>
              <a:defRPr sz="1600" b="1">
                <a:solidFill>
                  <a:srgbClr val="162B4D"/>
                </a:solidFill>
                <a:latin typeface="Aptos"/>
              </a:defRPr>
            </a:pPr>
            <a:r>
              <a:t>Sepal width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9431" y="2359152"/>
            <a:ext cx="2916936" cy="795528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2A3441"/>
                </a:solidFill>
                <a:latin typeface="Aptos"/>
              </a:defRPr>
            </a:pPr>
            <a:r>
              <a:t>Width of the sepal.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1828800"/>
            <a:ext cx="3246120" cy="1417320"/>
          </a:xfrm>
          <a:prstGeom prst="roundRect">
            <a:avLst/>
          </a:prstGeom>
          <a:solidFill>
            <a:srgbClr val="EEF5FA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57031" y="1975104"/>
            <a:ext cx="2916936" cy="32004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600"/>
              </a:spcAft>
              <a:defRPr sz="1600" b="1">
                <a:solidFill>
                  <a:srgbClr val="162B4D"/>
                </a:solidFill>
                <a:latin typeface="Aptos"/>
              </a:defRPr>
            </a:pPr>
            <a:r>
              <a:t>Petal length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57031" y="2359152"/>
            <a:ext cx="2916936" cy="795528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2A3441"/>
                </a:solidFill>
                <a:latin typeface="Aptos"/>
              </a:defRPr>
            </a:pPr>
            <a:r>
              <a:t>Length of the petal — the usually colourful part.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06040" y="3886200"/>
            <a:ext cx="3246120" cy="1417320"/>
          </a:xfrm>
          <a:prstGeom prst="roundRect">
            <a:avLst/>
          </a:prstGeom>
          <a:solidFill>
            <a:srgbClr val="EEF5FA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70632" y="4032504"/>
            <a:ext cx="2916936" cy="32004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600"/>
              </a:spcAft>
              <a:defRPr sz="1600" b="1">
                <a:solidFill>
                  <a:srgbClr val="162B4D"/>
                </a:solidFill>
                <a:latin typeface="Aptos"/>
              </a:defRPr>
            </a:pPr>
            <a:r>
              <a:t>Petal width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70632" y="4416552"/>
            <a:ext cx="2916936" cy="795528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2A3441"/>
                </a:solidFill>
                <a:latin typeface="Aptos"/>
              </a:defRPr>
            </a:pPr>
            <a:r>
              <a:t>Width of the petal.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3886200"/>
            <a:ext cx="3246120" cy="1417320"/>
          </a:xfrm>
          <a:prstGeom prst="roundRect">
            <a:avLst/>
          </a:prstGeom>
          <a:solidFill>
            <a:srgbClr val="EEF5FA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28231" y="4032504"/>
            <a:ext cx="2916936" cy="32004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600"/>
              </a:spcAft>
              <a:defRPr sz="1600" b="1">
                <a:solidFill>
                  <a:srgbClr val="162B4D"/>
                </a:solidFill>
                <a:latin typeface="Aptos"/>
              </a:defRPr>
            </a:pPr>
            <a:r>
              <a:t>flower_type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28231" y="4416552"/>
            <a:ext cx="2916936" cy="795528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2A3441"/>
                </a:solidFill>
                <a:latin typeface="Aptos"/>
              </a:defRPr>
            </a:pPr>
            <a:r>
              <a:t>Target label: the flower species to identify.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600"/>
              </a:spcAft>
              <a:defRPr sz="2800" b="1">
                <a:solidFill>
                  <a:srgbClr val="162B4D"/>
                </a:solidFill>
                <a:latin typeface="Aptos"/>
              </a:defRPr>
            </a:pPr>
            <a:r>
              <a:t>Notebook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789920" cy="384048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647382"/>
                </a:solidFill>
                <a:latin typeface="Aptos"/>
              </a:defRPr>
            </a:pPr>
            <a:r>
              <a:t>What the uploaded notebook currently does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353312"/>
            <a:ext cx="1097280" cy="54864"/>
          </a:xfrm>
          <a:prstGeom prst="rect">
            <a:avLst/>
          </a:prstGeom>
          <a:solidFill>
            <a:srgbClr val="1E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r">
              <a:spcAft>
                <a:spcPts val="600"/>
              </a:spcAft>
              <a:defRPr sz="900" b="0">
                <a:solidFill>
                  <a:srgbClr val="647382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3429000" cy="1508760"/>
          </a:xfrm>
          <a:prstGeom prst="roundRect">
            <a:avLst/>
          </a:prstGeom>
          <a:solidFill>
            <a:srgbClr val="EEF5FA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975104"/>
            <a:ext cx="3099816" cy="32004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600"/>
              </a:spcAft>
              <a:defRPr sz="1600" b="1">
                <a:solidFill>
                  <a:srgbClr val="162B4D"/>
                </a:solidFill>
                <a:latin typeface="Aptos"/>
              </a:defRPr>
            </a:pPr>
            <a:r>
              <a:t>1. Load Iris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359152"/>
            <a:ext cx="3099816" cy="886967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2A3441"/>
                </a:solidFill>
                <a:latin typeface="Aptos"/>
              </a:defRPr>
            </a:pPr>
            <a:r>
              <a:t>Load the built-in dataset from scikit-learn.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26280" y="1828800"/>
            <a:ext cx="3429000" cy="1508760"/>
          </a:xfrm>
          <a:prstGeom prst="roundRect">
            <a:avLst/>
          </a:prstGeom>
          <a:solidFill>
            <a:srgbClr val="EEF5FA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90872" y="1975104"/>
            <a:ext cx="3099816" cy="32004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600"/>
              </a:spcAft>
              <a:defRPr sz="1600" b="1">
                <a:solidFill>
                  <a:srgbClr val="162B4D"/>
                </a:solidFill>
                <a:latin typeface="Aptos"/>
              </a:defRPr>
            </a:pPr>
            <a:r>
              <a:t>2. Create a table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90872" y="2359152"/>
            <a:ext cx="3099816" cy="886967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2A3441"/>
                </a:solidFill>
                <a:latin typeface="Aptos"/>
              </a:defRPr>
            </a:pPr>
            <a:r>
              <a:t>Convert measurements and labels into a pandas DataFrame.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21040" y="1828800"/>
            <a:ext cx="3429000" cy="1508760"/>
          </a:xfrm>
          <a:prstGeom prst="roundRect">
            <a:avLst/>
          </a:prstGeom>
          <a:solidFill>
            <a:srgbClr val="EEF5FA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85632" y="1975104"/>
            <a:ext cx="3099816" cy="32004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600"/>
              </a:spcAft>
              <a:defRPr sz="1600" b="1">
                <a:solidFill>
                  <a:srgbClr val="162B4D"/>
                </a:solidFill>
                <a:latin typeface="Aptos"/>
              </a:defRPr>
            </a:pPr>
            <a:r>
              <a:t>3. Inspect columns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85632" y="2359152"/>
            <a:ext cx="3099816" cy="886967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2A3441"/>
                </a:solidFill>
                <a:latin typeface="Aptos"/>
              </a:defRPr>
            </a:pPr>
            <a:r>
              <a:t>Print the dataset shape and column names.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977639"/>
            <a:ext cx="3429000" cy="1508760"/>
          </a:xfrm>
          <a:prstGeom prst="roundRect">
            <a:avLst/>
          </a:prstGeom>
          <a:solidFill>
            <a:srgbClr val="EEF5FA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4123944"/>
            <a:ext cx="3099816" cy="32004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600"/>
              </a:spcAft>
              <a:defRPr sz="1600" b="1">
                <a:solidFill>
                  <a:srgbClr val="162B4D"/>
                </a:solidFill>
                <a:latin typeface="Aptos"/>
              </a:defRPr>
            </a:pPr>
            <a:r>
              <a:t>4. Check missing values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" y="4507992"/>
            <a:ext cx="3099816" cy="886967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2A3441"/>
                </a:solidFill>
                <a:latin typeface="Aptos"/>
              </a:defRPr>
            </a:pPr>
            <a:r>
              <a:t>Count missing values in each column.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26280" y="3977639"/>
            <a:ext cx="3429000" cy="1508760"/>
          </a:xfrm>
          <a:prstGeom prst="roundRect">
            <a:avLst/>
          </a:prstGeom>
          <a:solidFill>
            <a:srgbClr val="EEF5FA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90872" y="4123944"/>
            <a:ext cx="3099816" cy="32004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600"/>
              </a:spcAft>
              <a:defRPr sz="1600" b="1">
                <a:solidFill>
                  <a:srgbClr val="162B4D"/>
                </a:solidFill>
                <a:latin typeface="Aptos"/>
              </a:defRPr>
            </a:pPr>
            <a:r>
              <a:t>5. Count classes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90872" y="4507992"/>
            <a:ext cx="3099816" cy="886967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2A3441"/>
                </a:solidFill>
                <a:latin typeface="Aptos"/>
              </a:defRPr>
            </a:pPr>
            <a:r>
              <a:t>See the number of records for each flower type.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600"/>
              </a:spcAft>
              <a:defRPr sz="2800" b="1">
                <a:solidFill>
                  <a:srgbClr val="162B4D"/>
                </a:solidFill>
                <a:latin typeface="Aptos"/>
              </a:defRPr>
            </a:pPr>
            <a:r>
              <a:t>Sample Data Preview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789920" cy="384048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647382"/>
                </a:solidFill>
                <a:latin typeface="Aptos"/>
              </a:defRPr>
            </a:pPr>
            <a:r>
              <a:t>Illustrative rows from the dataset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353312"/>
            <a:ext cx="1097280" cy="54864"/>
          </a:xfrm>
          <a:prstGeom prst="rect">
            <a:avLst/>
          </a:prstGeom>
          <a:solidFill>
            <a:srgbClr val="1E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r">
              <a:spcAft>
                <a:spcPts val="600"/>
              </a:spcAft>
              <a:defRPr sz="900" b="0">
                <a:solidFill>
                  <a:srgbClr val="647382"/>
                </a:solidFill>
                <a:latin typeface="Aptos"/>
              </a:defRPr>
            </a:pPr>
            <a:r>
              <a:t>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874519"/>
          <a:ext cx="107442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2148840"/>
                <a:gridCol w="2148840"/>
                <a:gridCol w="2148840"/>
                <a:gridCol w="2148840"/>
              </a:tblGrid>
              <a:tr h="50292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Sepal length</a:t>
                      </a:r>
                    </a:p>
                  </a:txBody>
                  <a:tcPr marL="73152" marR="73152" marT="54864" marB="54864">
                    <a:solidFill>
                      <a:srgbClr val="16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Sepal width</a:t>
                      </a:r>
                    </a:p>
                  </a:txBody>
                  <a:tcPr marL="73152" marR="73152" marT="54864" marB="54864">
                    <a:solidFill>
                      <a:srgbClr val="16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Petal length</a:t>
                      </a:r>
                    </a:p>
                  </a:txBody>
                  <a:tcPr marL="73152" marR="73152" marT="54864" marB="54864">
                    <a:solidFill>
                      <a:srgbClr val="16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Petal width</a:t>
                      </a:r>
                    </a:p>
                  </a:txBody>
                  <a:tcPr marL="73152" marR="73152" marT="54864" marB="54864">
                    <a:solidFill>
                      <a:srgbClr val="16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Flower type</a:t>
                      </a:r>
                    </a:p>
                  </a:txBody>
                  <a:tcPr marL="73152" marR="73152" marT="54864" marB="54864">
                    <a:solidFill>
                      <a:srgbClr val="162B4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5.1</a:t>
                      </a:r>
                    </a:p>
                  </a:txBody>
                  <a:tcPr marL="73152" marR="73152" marT="54864" marB="54864">
                    <a:solidFill>
                      <a:srgbClr val="EE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3.5</a:t>
                      </a:r>
                    </a:p>
                  </a:txBody>
                  <a:tcPr marL="73152" marR="73152" marT="54864" marB="54864">
                    <a:solidFill>
                      <a:srgbClr val="EE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1.4</a:t>
                      </a:r>
                    </a:p>
                  </a:txBody>
                  <a:tcPr marL="73152" marR="73152" marT="54864" marB="54864">
                    <a:solidFill>
                      <a:srgbClr val="EE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0.2</a:t>
                      </a:r>
                    </a:p>
                  </a:txBody>
                  <a:tcPr marL="73152" marR="73152" marT="54864" marB="54864">
                    <a:solidFill>
                      <a:srgbClr val="EE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setosa</a:t>
                      </a:r>
                    </a:p>
                  </a:txBody>
                  <a:tcPr marL="73152" marR="73152" marT="54864" marB="54864">
                    <a:solidFill>
                      <a:srgbClr val="EEF5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6.4</a:t>
                      </a:r>
                    </a:p>
                  </a:txBody>
                  <a:tcPr marL="73152" marR="73152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3.2</a:t>
                      </a:r>
                    </a:p>
                  </a:txBody>
                  <a:tcPr marL="73152" marR="73152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4.5</a:t>
                      </a:r>
                    </a:p>
                  </a:txBody>
                  <a:tcPr marL="73152" marR="73152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1.5</a:t>
                      </a:r>
                    </a:p>
                  </a:txBody>
                  <a:tcPr marL="73152" marR="73152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versicolor</a:t>
                      </a:r>
                    </a:p>
                  </a:txBody>
                  <a:tcPr marL="73152" marR="73152" marT="54864" marB="54864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6.3</a:t>
                      </a:r>
                    </a:p>
                  </a:txBody>
                  <a:tcPr marL="73152" marR="73152" marT="54864" marB="54864">
                    <a:solidFill>
                      <a:srgbClr val="EE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3.3</a:t>
                      </a:r>
                    </a:p>
                  </a:txBody>
                  <a:tcPr marL="73152" marR="73152" marT="54864" marB="54864">
                    <a:solidFill>
                      <a:srgbClr val="EE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6.0</a:t>
                      </a:r>
                    </a:p>
                  </a:txBody>
                  <a:tcPr marL="73152" marR="73152" marT="54864" marB="54864">
                    <a:solidFill>
                      <a:srgbClr val="EE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2.5</a:t>
                      </a:r>
                    </a:p>
                  </a:txBody>
                  <a:tcPr marL="73152" marR="73152" marT="54864" marB="54864">
                    <a:solidFill>
                      <a:srgbClr val="EE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virginica</a:t>
                      </a:r>
                    </a:p>
                  </a:txBody>
                  <a:tcPr marL="73152" marR="73152" marT="54864" marB="54864">
                    <a:solidFill>
                      <a:srgbClr val="EEF5FA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68680" y="4389120"/>
            <a:ext cx="10241280" cy="68580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600"/>
              </a:spcAft>
              <a:defRPr sz="1700" b="0">
                <a:solidFill>
                  <a:srgbClr val="2A3441"/>
                </a:solidFill>
                <a:latin typeface="Aptos"/>
              </a:defRPr>
            </a:pPr>
            <a:r>
              <a:t>Each row represents one flower. The first four columns are features; the final column is the label.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600"/>
              </a:spcAft>
              <a:defRPr sz="2800" b="1">
                <a:solidFill>
                  <a:srgbClr val="162B4D"/>
                </a:solidFill>
                <a:latin typeface="Aptos"/>
              </a:defRPr>
            </a:pPr>
            <a:r>
              <a:t>How an ANN Fits This Task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789920" cy="384048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647382"/>
                </a:solidFill>
                <a:latin typeface="Aptos"/>
              </a:defRPr>
            </a:pPr>
            <a:r>
              <a:t>Planned model workflow — not yet implemented in the uploaded notebook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353312"/>
            <a:ext cx="1097280" cy="54864"/>
          </a:xfrm>
          <a:prstGeom prst="rect">
            <a:avLst/>
          </a:prstGeom>
          <a:solidFill>
            <a:srgbClr val="1E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r">
              <a:spcAft>
                <a:spcPts val="600"/>
              </a:spcAft>
              <a:defRPr sz="900" b="0">
                <a:solidFill>
                  <a:srgbClr val="647382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2011680" cy="45720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ctr">
              <a:spcAft>
                <a:spcPts val="600"/>
              </a:spcAft>
              <a:defRPr sz="1400" b="1">
                <a:solidFill>
                  <a:srgbClr val="162B4D"/>
                </a:solidFill>
                <a:latin typeface="Aptos"/>
              </a:defRPr>
            </a:pPr>
            <a:r>
              <a:t>INPUT FEATURES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1828800"/>
            <a:ext cx="2286000" cy="45720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ctr">
              <a:spcAft>
                <a:spcPts val="600"/>
              </a:spcAft>
              <a:defRPr sz="1400" b="1">
                <a:solidFill>
                  <a:srgbClr val="162B4D"/>
                </a:solidFill>
                <a:latin typeface="Aptos"/>
              </a:defRPr>
            </a:pPr>
            <a:r>
              <a:t>HIDDEN LAYERS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0" y="1828800"/>
            <a:ext cx="2103120" cy="45720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ctr">
              <a:spcAft>
                <a:spcPts val="600"/>
              </a:spcAft>
              <a:defRPr sz="1400" b="1">
                <a:solidFill>
                  <a:srgbClr val="162B4D"/>
                </a:solidFill>
                <a:latin typeface="Aptos"/>
              </a:defRPr>
            </a:pPr>
            <a:r>
              <a:t>OUTPUT CLASSES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554480" y="2788920"/>
            <a:ext cx="4069080" cy="182880"/>
          </a:xfrm>
          <a:prstGeom prst="line">
            <a:avLst/>
          </a:prstGeom>
          <a:ln w="12700">
            <a:solidFill>
              <a:srgbClr val="AABE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554480" y="2788920"/>
            <a:ext cx="4069080" cy="1188719"/>
          </a:xfrm>
          <a:prstGeom prst="line">
            <a:avLst/>
          </a:prstGeom>
          <a:ln w="12700">
            <a:solidFill>
              <a:srgbClr val="AABE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554480" y="2788920"/>
            <a:ext cx="4069080" cy="2194560"/>
          </a:xfrm>
          <a:prstGeom prst="line">
            <a:avLst/>
          </a:prstGeom>
          <a:ln w="12700">
            <a:solidFill>
              <a:srgbClr val="AABE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554480" y="2971800"/>
            <a:ext cx="4069080" cy="594360"/>
          </a:xfrm>
          <a:prstGeom prst="line">
            <a:avLst/>
          </a:prstGeom>
          <a:ln w="12700">
            <a:solidFill>
              <a:srgbClr val="AABE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554480" y="3566160"/>
            <a:ext cx="4069080" cy="411479"/>
          </a:xfrm>
          <a:prstGeom prst="line">
            <a:avLst/>
          </a:prstGeom>
          <a:ln w="12700">
            <a:solidFill>
              <a:srgbClr val="AABE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554480" y="3566160"/>
            <a:ext cx="4069080" cy="1417320"/>
          </a:xfrm>
          <a:prstGeom prst="line">
            <a:avLst/>
          </a:prstGeom>
          <a:ln w="12700">
            <a:solidFill>
              <a:srgbClr val="AABE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554480" y="2971800"/>
            <a:ext cx="4069080" cy="1371600"/>
          </a:xfrm>
          <a:prstGeom prst="line">
            <a:avLst/>
          </a:prstGeom>
          <a:ln w="12700">
            <a:solidFill>
              <a:srgbClr val="AABE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554480" y="3977639"/>
            <a:ext cx="4069080" cy="365761"/>
          </a:xfrm>
          <a:prstGeom prst="line">
            <a:avLst/>
          </a:prstGeom>
          <a:ln w="12700">
            <a:solidFill>
              <a:srgbClr val="AABE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554480" y="4343400"/>
            <a:ext cx="4069080" cy="640080"/>
          </a:xfrm>
          <a:prstGeom prst="line">
            <a:avLst/>
          </a:prstGeom>
          <a:ln w="12700">
            <a:solidFill>
              <a:srgbClr val="AABE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554480" y="2971800"/>
            <a:ext cx="4069080" cy="2148840"/>
          </a:xfrm>
          <a:prstGeom prst="line">
            <a:avLst/>
          </a:prstGeom>
          <a:ln w="12700">
            <a:solidFill>
              <a:srgbClr val="AABE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1554480" y="3977639"/>
            <a:ext cx="4069080" cy="1143001"/>
          </a:xfrm>
          <a:prstGeom prst="line">
            <a:avLst/>
          </a:prstGeom>
          <a:ln w="12700">
            <a:solidFill>
              <a:srgbClr val="AABE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1554480" y="4983480"/>
            <a:ext cx="4069080" cy="137160"/>
          </a:xfrm>
          <a:prstGeom prst="line">
            <a:avLst/>
          </a:prstGeom>
          <a:ln w="12700">
            <a:solidFill>
              <a:srgbClr val="AABE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623560" y="2971800"/>
            <a:ext cx="4206240" cy="182880"/>
          </a:xfrm>
          <a:prstGeom prst="line">
            <a:avLst/>
          </a:prstGeom>
          <a:ln w="12700">
            <a:solidFill>
              <a:srgbClr val="AABE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623560" y="2971800"/>
            <a:ext cx="4206240" cy="1097280"/>
          </a:xfrm>
          <a:prstGeom prst="line">
            <a:avLst/>
          </a:prstGeom>
          <a:ln w="12700">
            <a:solidFill>
              <a:srgbClr val="AABE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623560" y="2971800"/>
            <a:ext cx="4206240" cy="2011680"/>
          </a:xfrm>
          <a:prstGeom prst="line">
            <a:avLst/>
          </a:prstGeom>
          <a:ln w="12700">
            <a:solidFill>
              <a:srgbClr val="AABE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5623560" y="3154680"/>
            <a:ext cx="4206240" cy="822959"/>
          </a:xfrm>
          <a:prstGeom prst="line">
            <a:avLst/>
          </a:prstGeom>
          <a:ln w="12700">
            <a:solidFill>
              <a:srgbClr val="AABE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623560" y="3977639"/>
            <a:ext cx="4206240" cy="91441"/>
          </a:xfrm>
          <a:prstGeom prst="line">
            <a:avLst/>
          </a:prstGeom>
          <a:ln w="12700">
            <a:solidFill>
              <a:srgbClr val="AABE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623560" y="3977639"/>
            <a:ext cx="4206240" cy="1005841"/>
          </a:xfrm>
          <a:prstGeom prst="line">
            <a:avLst/>
          </a:prstGeom>
          <a:ln w="12700">
            <a:solidFill>
              <a:srgbClr val="AABE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5623560" y="3154680"/>
            <a:ext cx="4206240" cy="1828800"/>
          </a:xfrm>
          <a:prstGeom prst="line">
            <a:avLst/>
          </a:prstGeom>
          <a:ln w="12700">
            <a:solidFill>
              <a:srgbClr val="AABE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5623560" y="4069080"/>
            <a:ext cx="4206240" cy="914400"/>
          </a:xfrm>
          <a:prstGeom prst="line">
            <a:avLst/>
          </a:prstGeom>
          <a:ln w="12700">
            <a:solidFill>
              <a:srgbClr val="AABE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5623560" y="4983480"/>
            <a:ext cx="4206240" cy="0"/>
          </a:xfrm>
          <a:prstGeom prst="line">
            <a:avLst/>
          </a:prstGeom>
          <a:ln w="12700">
            <a:solidFill>
              <a:srgbClr val="AABE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1325880" y="2560320"/>
            <a:ext cx="457200" cy="457200"/>
          </a:xfrm>
          <a:prstGeom prst="ellipse">
            <a:avLst/>
          </a:prstGeom>
          <a:solidFill>
            <a:srgbClr val="2C68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325880" y="3337560"/>
            <a:ext cx="457200" cy="457200"/>
          </a:xfrm>
          <a:prstGeom prst="ellipse">
            <a:avLst/>
          </a:prstGeom>
          <a:solidFill>
            <a:srgbClr val="2C68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325880" y="4114800"/>
            <a:ext cx="457200" cy="457200"/>
          </a:xfrm>
          <a:prstGeom prst="ellipse">
            <a:avLst/>
          </a:prstGeom>
          <a:solidFill>
            <a:srgbClr val="2C68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325880" y="4892040"/>
            <a:ext cx="457200" cy="457200"/>
          </a:xfrm>
          <a:prstGeom prst="ellipse">
            <a:avLst/>
          </a:prstGeom>
          <a:solidFill>
            <a:srgbClr val="2C68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5394960" y="2743200"/>
            <a:ext cx="457200" cy="457200"/>
          </a:xfrm>
          <a:prstGeom prst="ellipse">
            <a:avLst/>
          </a:prstGeom>
          <a:solidFill>
            <a:srgbClr val="1E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394960" y="3749039"/>
            <a:ext cx="457200" cy="457200"/>
          </a:xfrm>
          <a:prstGeom prst="ellipse">
            <a:avLst/>
          </a:prstGeom>
          <a:solidFill>
            <a:srgbClr val="1E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5394960" y="4754880"/>
            <a:ext cx="457200" cy="457200"/>
          </a:xfrm>
          <a:prstGeom prst="ellipse">
            <a:avLst/>
          </a:prstGeom>
          <a:solidFill>
            <a:srgbClr val="1E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9601200" y="2926080"/>
            <a:ext cx="457200" cy="457200"/>
          </a:xfrm>
          <a:prstGeom prst="ellipse">
            <a:avLst/>
          </a:prstGeom>
          <a:solidFill>
            <a:srgbClr val="EBB0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9601200" y="3840480"/>
            <a:ext cx="457200" cy="457200"/>
          </a:xfrm>
          <a:prstGeom prst="ellipse">
            <a:avLst/>
          </a:prstGeom>
          <a:solidFill>
            <a:srgbClr val="EBB0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9601200" y="4754880"/>
            <a:ext cx="457200" cy="457200"/>
          </a:xfrm>
          <a:prstGeom prst="ellipse">
            <a:avLst/>
          </a:prstGeom>
          <a:solidFill>
            <a:srgbClr val="EBB0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1520" y="5623560"/>
            <a:ext cx="10789920" cy="50292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ctr">
              <a:spcAft>
                <a:spcPts val="600"/>
              </a:spcAft>
              <a:defRPr sz="1800" b="1">
                <a:solidFill>
                  <a:srgbClr val="162B4D"/>
                </a:solidFill>
                <a:latin typeface="Aptos"/>
              </a:defRPr>
            </a:pPr>
            <a:r>
              <a:t>4 measurements  →  learned patterns  →  3 predicted flower species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600"/>
              </a:spcAft>
              <a:defRPr sz="2800" b="1">
                <a:solidFill>
                  <a:srgbClr val="162B4D"/>
                </a:solidFill>
                <a:latin typeface="Aptos"/>
              </a:defRPr>
            </a:pPr>
            <a:r>
              <a:t>Next Steps for ANN Training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789920" cy="384048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647382"/>
                </a:solidFill>
                <a:latin typeface="Aptos"/>
              </a:defRPr>
            </a:pPr>
            <a:r>
              <a:t>A recommended continuation after data exploration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353312"/>
            <a:ext cx="1097280" cy="54864"/>
          </a:xfrm>
          <a:prstGeom prst="rect">
            <a:avLst/>
          </a:prstGeom>
          <a:solidFill>
            <a:srgbClr val="1E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r">
              <a:spcAft>
                <a:spcPts val="600"/>
              </a:spcAft>
              <a:defRPr sz="900" b="0">
                <a:solidFill>
                  <a:srgbClr val="647382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10241280" cy="347472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2A3441"/>
                </a:solidFill>
                <a:latin typeface="Aptos"/>
              </a:defRPr>
            </a:pPr>
            <a:r>
              <a:t>•  Separate the four measurements (X) from the flower label (y).</a:t>
            </a:r>
          </a:p>
          <a:p>
            <a:pPr>
              <a:spcAft>
                <a:spcPts val="1200"/>
              </a:spcAft>
              <a:defRPr sz="1900">
                <a:solidFill>
                  <a:srgbClr val="2A3441"/>
                </a:solidFill>
                <a:latin typeface="Aptos"/>
              </a:defRPr>
            </a:pPr>
            <a:r>
              <a:t>•  Split the data into training and testing sets.</a:t>
            </a:r>
          </a:p>
          <a:p>
            <a:pPr>
              <a:spcAft>
                <a:spcPts val="1200"/>
              </a:spcAft>
              <a:defRPr sz="1900">
                <a:solidFill>
                  <a:srgbClr val="2A3441"/>
                </a:solidFill>
                <a:latin typeface="Aptos"/>
              </a:defRPr>
            </a:pPr>
            <a:r>
              <a:t>•  Scale the numeric features.</a:t>
            </a:r>
          </a:p>
          <a:p>
            <a:pPr>
              <a:spcAft>
                <a:spcPts val="1200"/>
              </a:spcAft>
              <a:defRPr sz="1900">
                <a:solidFill>
                  <a:srgbClr val="2A3441"/>
                </a:solidFill>
                <a:latin typeface="Aptos"/>
              </a:defRPr>
            </a:pPr>
            <a:r>
              <a:t>•  Build an ANN with hidden layers and a 3-unit softmax output.</a:t>
            </a:r>
          </a:p>
          <a:p>
            <a:pPr>
              <a:spcAft>
                <a:spcPts val="1200"/>
              </a:spcAft>
              <a:defRPr sz="1900">
                <a:solidFill>
                  <a:srgbClr val="2A3441"/>
                </a:solidFill>
                <a:latin typeface="Aptos"/>
              </a:defRPr>
            </a:pPr>
            <a:r>
              <a:t>•  Train the model and evaluate test accuracy and a classification report.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623560"/>
            <a:ext cx="10058400" cy="41148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600"/>
              </a:spcAft>
              <a:defRPr sz="1500" b="1">
                <a:solidFill>
                  <a:srgbClr val="2C68AB"/>
                </a:solidFill>
                <a:latin typeface="Aptos"/>
              </a:defRPr>
            </a:pPr>
            <a:r>
              <a:t>Do not report model accuracy until the ANN has actually been trained and tested.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600"/>
              </a:spcAft>
              <a:defRPr sz="2800" b="1">
                <a:solidFill>
                  <a:srgbClr val="162B4D"/>
                </a:solidFill>
                <a:latin typeface="Aptos"/>
              </a:defRPr>
            </a:pPr>
            <a:r>
              <a:t>Key Machine Learning Terms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789920" cy="384048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647382"/>
                </a:solidFill>
                <a:latin typeface="Aptos"/>
              </a:defRPr>
            </a:pPr>
            <a:r>
              <a:t>Short definitions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353312"/>
            <a:ext cx="1097280" cy="54864"/>
          </a:xfrm>
          <a:prstGeom prst="rect">
            <a:avLst/>
          </a:prstGeom>
          <a:solidFill>
            <a:srgbClr val="1E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r">
              <a:spcAft>
                <a:spcPts val="600"/>
              </a:spcAft>
              <a:defRPr sz="900" b="0">
                <a:solidFill>
                  <a:srgbClr val="647382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3429000" cy="1371600"/>
          </a:xfrm>
          <a:prstGeom prst="roundRect">
            <a:avLst/>
          </a:prstGeom>
          <a:solidFill>
            <a:srgbClr val="EEF5FA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975104"/>
            <a:ext cx="3099816" cy="32004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600"/>
              </a:spcAft>
              <a:defRPr sz="1600" b="1">
                <a:solidFill>
                  <a:srgbClr val="162B4D"/>
                </a:solidFill>
                <a:latin typeface="Aptos"/>
              </a:defRPr>
            </a:pPr>
            <a:r>
              <a:t>Feature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359152"/>
            <a:ext cx="3099816" cy="749808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2A3441"/>
                </a:solidFill>
                <a:latin typeface="Aptos"/>
              </a:defRPr>
            </a:pPr>
            <a:r>
              <a:t>An input measurement used by the model.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26280" y="1828800"/>
            <a:ext cx="3429000" cy="1371600"/>
          </a:xfrm>
          <a:prstGeom prst="roundRect">
            <a:avLst/>
          </a:prstGeom>
          <a:solidFill>
            <a:srgbClr val="EEF5FA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90872" y="1975104"/>
            <a:ext cx="3099816" cy="32004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600"/>
              </a:spcAft>
              <a:defRPr sz="1600" b="1">
                <a:solidFill>
                  <a:srgbClr val="162B4D"/>
                </a:solidFill>
                <a:latin typeface="Aptos"/>
              </a:defRPr>
            </a:pPr>
            <a:r>
              <a:t>Target / label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90872" y="2359152"/>
            <a:ext cx="3099816" cy="749808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2A3441"/>
                </a:solidFill>
                <a:latin typeface="Aptos"/>
              </a:defRPr>
            </a:pPr>
            <a:r>
              <a:t>The answer the model learns to predict.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21040" y="1828800"/>
            <a:ext cx="3429000" cy="1371600"/>
          </a:xfrm>
          <a:prstGeom prst="roundRect">
            <a:avLst/>
          </a:prstGeom>
          <a:solidFill>
            <a:srgbClr val="EEF5FA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85632" y="1975104"/>
            <a:ext cx="3099816" cy="32004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600"/>
              </a:spcAft>
              <a:defRPr sz="1600" b="1">
                <a:solidFill>
                  <a:srgbClr val="162B4D"/>
                </a:solidFill>
                <a:latin typeface="Aptos"/>
              </a:defRPr>
            </a:pPr>
            <a:r>
              <a:t>Training data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85632" y="2359152"/>
            <a:ext cx="3099816" cy="749808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2A3441"/>
                </a:solidFill>
                <a:latin typeface="Aptos"/>
              </a:defRPr>
            </a:pPr>
            <a:r>
              <a:t>Data used to teach the model.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657600"/>
            <a:ext cx="3429000" cy="1371600"/>
          </a:xfrm>
          <a:prstGeom prst="roundRect">
            <a:avLst/>
          </a:prstGeom>
          <a:solidFill>
            <a:srgbClr val="EEF5FA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3803904"/>
            <a:ext cx="3099816" cy="32004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600"/>
              </a:spcAft>
              <a:defRPr sz="1600" b="1">
                <a:solidFill>
                  <a:srgbClr val="162B4D"/>
                </a:solidFill>
                <a:latin typeface="Aptos"/>
              </a:defRPr>
            </a:pPr>
            <a:r>
              <a:t>Testing data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" y="4187952"/>
            <a:ext cx="3099816" cy="749808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2A3441"/>
                </a:solidFill>
                <a:latin typeface="Aptos"/>
              </a:defRPr>
            </a:pPr>
            <a:r>
              <a:t>Separate data used to evaluate performance.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26280" y="3657600"/>
            <a:ext cx="3429000" cy="1371600"/>
          </a:xfrm>
          <a:prstGeom prst="roundRect">
            <a:avLst/>
          </a:prstGeom>
          <a:solidFill>
            <a:srgbClr val="EEF5FA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90872" y="3803904"/>
            <a:ext cx="3099816" cy="32004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600"/>
              </a:spcAft>
              <a:defRPr sz="1600" b="1">
                <a:solidFill>
                  <a:srgbClr val="162B4D"/>
                </a:solidFill>
                <a:latin typeface="Aptos"/>
              </a:defRPr>
            </a:pPr>
            <a:r>
              <a:t>Classification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90872" y="4187952"/>
            <a:ext cx="3099816" cy="749808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2A3441"/>
                </a:solidFill>
                <a:latin typeface="Aptos"/>
              </a:defRPr>
            </a:pPr>
            <a:r>
              <a:t>Predicting a category or class.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321040" y="3657600"/>
            <a:ext cx="3429000" cy="1371600"/>
          </a:xfrm>
          <a:prstGeom prst="roundRect">
            <a:avLst/>
          </a:prstGeom>
          <a:solidFill>
            <a:srgbClr val="EEF5FA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85632" y="3803904"/>
            <a:ext cx="3099816" cy="32004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600"/>
              </a:spcAft>
              <a:defRPr sz="1600" b="1">
                <a:solidFill>
                  <a:srgbClr val="162B4D"/>
                </a:solidFill>
                <a:latin typeface="Aptos"/>
              </a:defRPr>
            </a:pPr>
            <a:r>
              <a:t>Accuracy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85632" y="4187952"/>
            <a:ext cx="3099816" cy="749808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2A3441"/>
                </a:solidFill>
                <a:latin typeface="Aptos"/>
              </a:defRPr>
            </a:pPr>
            <a:r>
              <a:t>The proportion of correct predictions.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B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607040" cy="54864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600"/>
              </a:spcAft>
              <a:defRPr sz="3000" b="1">
                <a:solidFill>
                  <a:srgbClr val="FFFFFF"/>
                </a:solidFill>
                <a:latin typeface="Aptos"/>
              </a:defRPr>
            </a:pPr>
            <a:r>
              <a:t>Conclusion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280160"/>
            <a:ext cx="1097280" cy="54864"/>
          </a:xfrm>
          <a:prstGeom prst="rect">
            <a:avLst/>
          </a:prstGeom>
          <a:solidFill>
            <a:srgbClr val="EBB0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9253855" cy="85344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600"/>
              </a:spcAft>
              <a:defRPr sz="2300" b="0">
                <a:solidFill>
                  <a:srgbClr val="FFFFFF"/>
                </a:solidFill>
                <a:latin typeface="Aptos"/>
              </a:defRPr>
            </a:pPr>
            <a:r>
              <a:t>The Iris dataset is a clear starting point for classification. The uploaded </a:t>
            </a:r>
            <a:br/>
            <a:r>
              <a:t>notebook explores the data and prepares it for a future ANN model.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840480"/>
            <a:ext cx="10058400" cy="100584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600"/>
              </a:spcAft>
              <a:defRPr sz="1800" b="0">
                <a:solidFill>
                  <a:srgbClr val="D7E2EE"/>
                </a:solidFill>
                <a:latin typeface="Aptos"/>
              </a:defRPr>
            </a:pPr>
            <a:r>
              <a:t>Next: prepare features and labels, train the ANN, then evaluate its predictions on unseen test data.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080760"/>
            <a:ext cx="10241280" cy="27432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600"/>
              </a:spcAft>
              <a:defRPr sz="1100" b="0">
                <a:solidFill>
                  <a:srgbClr val="EBB03E"/>
                </a:solidFill>
                <a:latin typeface="Aptos"/>
              </a:defRPr>
            </a:pPr>
            <a:r>
              <a:t>Iris Dataset &amp; Artificial Neural Network  •  Kaggle Project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2997</Words>
  <Application>WPS Presentation</Application>
  <PresentationFormat>On-screen Show (4:3)</PresentationFormat>
  <Paragraphs>223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0" baseType="lpstr">
      <vt:lpstr>Arial</vt:lpstr>
      <vt:lpstr>SimSun</vt:lpstr>
      <vt:lpstr>Wingdings</vt:lpstr>
      <vt:lpstr>Arial</vt:lpstr>
      <vt:lpstr>Aptos</vt:lpstr>
      <vt:lpstr>Segoe UI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Hi</cp:lastModifiedBy>
  <cp:revision>2</cp:revision>
  <dcterms:created xsi:type="dcterms:W3CDTF">2013-01-27T09:14:00Z</dcterms:created>
  <dcterms:modified xsi:type="dcterms:W3CDTF">2026-10-28T12:46:15Z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9D69567B6D0C4DAAA2F20DEBBE5A49C1_12</vt:lpwstr>
  </property>
  <property fmtid="{D5CDD505-2E9C-101B-9397-08002B2CF9AE}" pid="3" name="KSOProductBuildVer">
    <vt:lpwstr>1033-12.1.0.29162</vt:lpwstr>
  </property>
</Properties>
</file>